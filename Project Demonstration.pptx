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82"/>
    <p:restoredTop sz="94690"/>
  </p:normalViewPr>
  <p:slideViewPr>
    <p:cSldViewPr snapToGrid="0">
      <p:cViewPr varScale="1">
        <p:scale>
          <a:sx n="84" d="100"/>
          <a:sy n="84" d="100"/>
        </p:scale>
        <p:origin x="200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696-F562-C4E7-ADFC-7F2C60EE2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00927-066B-F7F1-BCAD-3EFC7DD3D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7B2A-8721-76FC-2147-E74EB91F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608B7-F38A-AADD-1C62-F0EACC2C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40EBF-FB1A-0E77-F559-DD59BC29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3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FDB6-F703-7495-BF97-1BDDF6E1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F2CC6-1187-253E-AB8C-BC3D401CD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D99C-5D15-FA7F-ADE4-15F78CDD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5193F-ADEF-3AE7-F632-32116D5B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E12F6-C902-8A18-B268-8B38E500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6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C83-8B23-A69F-25BC-4BC280D0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23200-B2BD-58F0-D1D3-B24FEFDE3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0A7F8-B16E-EF8E-BD82-811F5F2C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C2F03-8547-DFA9-33F7-E855D687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A3BE-8E67-DD97-90AD-A05FE654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8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EA7D-E49C-62DF-1415-93BC9219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A58B-E9E6-2FE1-C3B6-4EE5AE1CC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E86E8-BE14-4FE0-EAD1-C8D634432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90CC0-2865-EB14-2E88-53DA1E0D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C34B3-D69C-A826-70E8-211F636A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A5B1F-E36A-20C7-0091-E0DE6887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8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203F-D5A8-363C-65E7-07BA4DBE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98C20-E2AA-C7C0-2A19-BBFC6EF6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59FA2-BECA-1CE6-3648-FF6BAFEB4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0E3DF-0A05-CAA5-F6E5-B1023CCE3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E3106-725C-E5E1-0EF9-F0E27731E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75EAA-F439-C380-58E5-5985648C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773F3-B624-39A5-44FE-FCED5F77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56BA3-2CDF-2E0B-48CC-97A73527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3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1365-C21A-9830-2DB0-07D104AC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5687-A49E-5C25-68DF-7B4F388E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015BC-5CA8-BDF4-6EBF-558CB93E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E759C-5C8F-52C4-296B-89486D1C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F16C9-865C-67E0-611D-93BF24FA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2FBAF-5478-F783-E8AD-CC0CA9C7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EA290-85B9-CBE5-9D76-37AD19DC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1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E8B7-B265-B4A3-9EA3-15D0C8C9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F791-32A3-1048-4D66-0266445D8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32107-FB78-3DF2-BF88-E92292B49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974B8-B0DC-24BC-D861-C62CED65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A3CEB-2EF4-4C76-44C0-CFD9846D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4D9B4-1A43-E427-A416-79F14900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8196-5552-9C54-65BC-514F6E7F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37C36-D7B1-17CF-9811-E5F55BD71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6830E-BB4C-E437-F392-1689BFB81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36DFF-A3B0-02C4-9125-16E1BF75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6A0D1-076B-4D28-D148-00FD6B6A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85AF0-1CA9-1A09-DB79-3BECBBFC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5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A72E-D3B6-AC08-CBFF-4C57C7FE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C14C3-6F41-24FD-F0CB-999E9FD60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353-DC0F-2D42-B088-86BB73D20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B686A-2C57-FDBC-7B1B-54610319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9897C-1716-3A17-F1A4-19E633CE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9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F6B3A-3822-A5E2-B04F-F690BDD49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20362-2E4F-A5F0-8CEA-5E1A33C09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2A1F7-F606-E58A-E0F5-C459E15C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7EA5F-DDC1-C72F-3E08-C618FCDA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C9DA-75C3-2381-2E3A-CB2606EF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2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A6A0D-CBB9-CECC-A9B6-1149ABC5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977A6-0A35-D25E-9EF3-28E0D7924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F44C6-C922-4A64-D38E-E6DD96FEA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E5F91-F44A-EF46-91DD-E5BF2E51F33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94B41-4E2C-E096-25F0-CF15425F3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C522C-7F62-C375-47AC-6B7080ABB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D138F-4EC5-464B-BCD1-1A5FC3B5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5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018A-7B5D-E5E3-068D-F169C2196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Student-Oriented GUI for Causal Discovery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B9BFA-B314-4CAD-3773-2AD0BD330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Jonah King</a:t>
            </a:r>
          </a:p>
          <a:p>
            <a:r>
              <a:rPr lang="en-US" dirty="0"/>
              <a:t>MSc Computer Science</a:t>
            </a:r>
          </a:p>
          <a:p>
            <a:r>
              <a:rPr lang="en-US" dirty="0"/>
              <a:t>Project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75245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0842-6212-1CFF-1808-124910B2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A7CB-8C45-DFE4-C473-237178634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Causal discovery tools provide little help for beginners</a:t>
            </a:r>
          </a:p>
          <a:p>
            <a:r>
              <a:rPr lang="en-US" dirty="0"/>
              <a:t>Target users: Students and Novice researchers analysing their datasets</a:t>
            </a:r>
          </a:p>
          <a:p>
            <a:r>
              <a:rPr lang="en-US" dirty="0"/>
              <a:t>Project goals: tutorial-guided, user-friendly GUI for causal discovery</a:t>
            </a:r>
          </a:p>
          <a:p>
            <a:pPr lvl="1"/>
            <a:r>
              <a:rPr lang="en-US" dirty="0"/>
              <a:t>Tutorials for each step/algorithm</a:t>
            </a:r>
          </a:p>
          <a:p>
            <a:pPr lvl="1"/>
            <a:r>
              <a:rPr lang="en-US" dirty="0"/>
              <a:t>Parameter selection guided with tooltips</a:t>
            </a:r>
          </a:p>
          <a:p>
            <a:pPr lvl="1"/>
            <a:r>
              <a:rPr lang="en-US" dirty="0"/>
              <a:t>Explainability: causal relationships, algorithm differences, separating sets</a:t>
            </a:r>
          </a:p>
        </p:txBody>
      </p:sp>
    </p:spTree>
    <p:extLst>
      <p:ext uri="{BB962C8B-B14F-4D97-AF65-F5344CB8AC3E}">
        <p14:creationId xmlns:p14="http://schemas.microsoft.com/office/powerpoint/2010/main" val="32773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76FA-A9EC-2A28-5ED8-DBCD83BE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a Student-Friendly GUI?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ABFB-194B-9DC9-672B-7E0E2762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Causality over correlation</a:t>
            </a:r>
          </a:p>
          <a:p>
            <a:pPr lvl="1"/>
            <a:r>
              <a:rPr lang="en-US" dirty="0"/>
              <a:t>Need causes to reason about mechanisms</a:t>
            </a:r>
          </a:p>
          <a:p>
            <a:pPr lvl="1"/>
            <a:r>
              <a:rPr lang="en-US" dirty="0"/>
              <a:t>Causal answers are necessary</a:t>
            </a:r>
          </a:p>
          <a:p>
            <a:r>
              <a:rPr lang="en-US" dirty="0"/>
              <a:t>Algorithm choice overload</a:t>
            </a:r>
          </a:p>
          <a:p>
            <a:pPr lvl="1"/>
            <a:r>
              <a:rPr lang="en-US" dirty="0"/>
              <a:t>Each with different assumptions (Markov, faithfulness, sufficiency, score)</a:t>
            </a:r>
          </a:p>
          <a:p>
            <a:pPr lvl="1"/>
            <a:r>
              <a:rPr lang="en-US" dirty="0"/>
              <a:t>Picking the right algorithm and comparing outputs is not beginner friendly </a:t>
            </a:r>
          </a:p>
          <a:p>
            <a:r>
              <a:rPr lang="en-US" dirty="0"/>
              <a:t>GUI for existing algorithms</a:t>
            </a:r>
          </a:p>
          <a:p>
            <a:pPr lvl="1"/>
            <a:r>
              <a:rPr lang="en-US" dirty="0"/>
              <a:t>Packages exist with good documentation, but many users aren’t programmers</a:t>
            </a:r>
          </a:p>
          <a:p>
            <a:pPr lvl="1"/>
            <a:r>
              <a:rPr lang="en-US" dirty="0"/>
              <a:t>GUI lowers the skill barrier for users with less technical backgrounds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0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34BB-99AC-D8C2-C849-15030FD9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56A09-685B-4677-54F6-C3B9E9610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Prioritise usability: clean layout to guide the user in the right direction</a:t>
            </a:r>
          </a:p>
          <a:p>
            <a:r>
              <a:rPr lang="en-US" dirty="0"/>
              <a:t>Learn by doing: algorithm tutorials, parameter tooltips</a:t>
            </a:r>
          </a:p>
          <a:p>
            <a:r>
              <a:rPr lang="en-US" dirty="0"/>
              <a:t>Explain results: right hand panels explain edges and lack of relationships</a:t>
            </a:r>
          </a:p>
          <a:p>
            <a:r>
              <a:rPr lang="en-US" dirty="0"/>
              <a:t>Appliable: export graphs/edges/comparisons</a:t>
            </a:r>
          </a:p>
        </p:txBody>
      </p:sp>
    </p:spTree>
    <p:extLst>
      <p:ext uri="{BB962C8B-B14F-4D97-AF65-F5344CB8AC3E}">
        <p14:creationId xmlns:p14="http://schemas.microsoft.com/office/powerpoint/2010/main" val="303713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07C4-871F-FE8C-04BD-D550E6B6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A7F4-4E2D-BF4E-4878-58883A9FA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PyQt5 (Qt Designer), Matplotlib canvas, NetworkX, Graphviz for layout</a:t>
            </a:r>
          </a:p>
          <a:p>
            <a:r>
              <a:rPr lang="en-US" dirty="0"/>
              <a:t>Backend: py-tetrad and JPype for TETRAD’s Java algorithms</a:t>
            </a:r>
          </a:p>
          <a:p>
            <a:r>
              <a:rPr lang="en-US" dirty="0"/>
              <a:t>Structure:</a:t>
            </a:r>
          </a:p>
          <a:p>
            <a:pPr lvl="1"/>
            <a:r>
              <a:rPr lang="en-US" dirty="0"/>
              <a:t>App.py: window, docks, tabs, toolbar wiring</a:t>
            </a:r>
          </a:p>
          <a:p>
            <a:pPr lvl="1"/>
            <a:r>
              <a:rPr lang="en-US" dirty="0"/>
              <a:t>Controllers.py: actions, drawing, exports, comparisons</a:t>
            </a:r>
          </a:p>
          <a:p>
            <a:pPr lvl="1"/>
            <a:r>
              <a:rPr lang="en-US" dirty="0"/>
              <a:t>Tetrad_iface.py: JVM bootstrap, PC/GFCI/FGES runs, CI helps</a:t>
            </a:r>
          </a:p>
          <a:p>
            <a:pPr lvl="1"/>
            <a:r>
              <a:rPr lang="en-US" dirty="0"/>
              <a:t>Dialogs.py: wizards (Import, PC, GFCI, FGES), parameter dialogs</a:t>
            </a:r>
          </a:p>
        </p:txBody>
      </p:sp>
    </p:spTree>
    <p:extLst>
      <p:ext uri="{BB962C8B-B14F-4D97-AF65-F5344CB8AC3E}">
        <p14:creationId xmlns:p14="http://schemas.microsoft.com/office/powerpoint/2010/main" val="74642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3648-C9CB-773D-B241-125DE207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Implemented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6DABA-0E59-B195-14B5-F194443F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1697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Constraint based: PC – uses skeleton pruning via CI tests and Meek orientation to produce a CPDAG</a:t>
            </a:r>
          </a:p>
          <a:p>
            <a:r>
              <a:rPr lang="en-US" dirty="0"/>
              <a:t>Hybrid: GFCI – uses score and CI tests to output a PAG supporting latent confounders</a:t>
            </a:r>
          </a:p>
          <a:p>
            <a:r>
              <a:rPr lang="en-US" dirty="0"/>
              <a:t>Score based: FGES – a greedy equivalence search with BIC penalty discount</a:t>
            </a:r>
          </a:p>
          <a:p>
            <a:r>
              <a:rPr lang="en-US" dirty="0"/>
              <a:t>Shared parameter dialogs – alpha, depth, data type / penalty, consistent 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89D3F-AEF9-A160-F6A0-7C8D2B719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335" y="1834531"/>
            <a:ext cx="4985333" cy="28685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1635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F3FE-9DA9-AFAF-86F3-5AC255CB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Visualisation &amp; 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2CC3-AB7C-75CF-939E-C44915AAA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948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DAG canvas: drag node positions, exports to PNG, stable layouts</a:t>
            </a:r>
          </a:p>
          <a:p>
            <a:r>
              <a:rPr lang="en-US" dirty="0"/>
              <a:t>Edges: directed (A </a:t>
            </a:r>
            <a:r>
              <a:rPr lang="en-US" dirty="0">
                <a:sym typeface="Wingdings" pitchFamily="2" charset="2"/>
              </a:rPr>
              <a:t>--&gt; B), undirected (A --- B), partially oriented (A o-&gt; B), bidirectional (&lt;-&gt;)</a:t>
            </a:r>
          </a:p>
          <a:p>
            <a:r>
              <a:rPr lang="en-US" dirty="0">
                <a:sym typeface="Wingdings" pitchFamily="2" charset="2"/>
              </a:rPr>
              <a:t>Why not connected?: finds separating sets explaining removed edges</a:t>
            </a:r>
          </a:p>
          <a:p>
            <a:pPr lvl="1"/>
            <a:r>
              <a:rPr lang="en-US" dirty="0">
                <a:sym typeface="Wingdings" pitchFamily="2" charset="2"/>
              </a:rPr>
              <a:t>Continuous: Fisher-Z using partial correlations</a:t>
            </a:r>
          </a:p>
          <a:p>
            <a:pPr lvl="1"/>
            <a:r>
              <a:rPr lang="en-US" dirty="0">
                <a:sym typeface="Wingdings" pitchFamily="2" charset="2"/>
              </a:rPr>
              <a:t>Discrete: conditional </a:t>
            </a:r>
            <a:r>
              <a:rPr lang="el-GR" dirty="0"/>
              <a:t>χ</a:t>
            </a:r>
            <a:r>
              <a:rPr lang="en-GB" dirty="0"/>
              <a:t>²</a:t>
            </a:r>
            <a:endParaRPr lang="en-US" dirty="0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976505D5-D3C7-BBB2-2924-C7481B9D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694" y="1627084"/>
            <a:ext cx="4709390" cy="45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965C-9D30-2DA3-872E-17FD242C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DC95-E63B-BE0A-C876-A541BE0C2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012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Compare tab: runs the three algorithms with the same data and parameters</a:t>
            </a:r>
          </a:p>
          <a:p>
            <a:r>
              <a:rPr lang="en-US" dirty="0"/>
              <a:t>Reports unique edges per algorithm and orientation disagreements for each variable pair</a:t>
            </a:r>
          </a:p>
          <a:p>
            <a:r>
              <a:rPr lang="en-US" dirty="0"/>
              <a:t>Exports text report (header, counts, unique edges, disagreements)</a:t>
            </a:r>
          </a:p>
          <a:p>
            <a:r>
              <a:rPr lang="en-US" dirty="0"/>
              <a:t>Value: shows how algorithms, alpha, depth, and score penalties affect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7A3B6-36D4-4A1F-071B-3E579975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328" y="325836"/>
            <a:ext cx="3856722" cy="62063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4283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89BD-06DF-69C7-AB7F-60C7D70B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 &amp; Example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5838E-294B-56ED-9781-C775E5405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flow:</a:t>
            </a:r>
          </a:p>
          <a:p>
            <a:pPr lvl="1"/>
            <a:r>
              <a:rPr lang="en-US" dirty="0"/>
              <a:t>Import CSV -&gt; choose PC/GFCI/FGES -&gt; inspect DAG edges -&gt; why not connected? -&gt; compare -&gt; export</a:t>
            </a:r>
          </a:p>
          <a:p>
            <a:r>
              <a:rPr lang="en-US" dirty="0"/>
              <a:t>Dataset used for testing:</a:t>
            </a:r>
          </a:p>
          <a:p>
            <a:pPr lvl="1"/>
            <a:r>
              <a:rPr lang="en-US" dirty="0"/>
              <a:t>LUCAS (lung cancer synthetic dataset) containing 12 variables commonly associated with lung cancer and smoking</a:t>
            </a:r>
          </a:p>
          <a:p>
            <a:r>
              <a:rPr lang="en-US" dirty="0"/>
              <a:t>Search for: stability of core edges and algorithm differences flagged</a:t>
            </a:r>
          </a:p>
        </p:txBody>
      </p:sp>
    </p:spTree>
    <p:extLst>
      <p:ext uri="{BB962C8B-B14F-4D97-AF65-F5344CB8AC3E}">
        <p14:creationId xmlns:p14="http://schemas.microsoft.com/office/powerpoint/2010/main" val="30153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BE23-BCE8-293A-5EDE-C520F5D2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Limitations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E34C0-2276-8662-B046-0326A666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UI blocking on large runs (synchronous)</a:t>
            </a:r>
          </a:p>
          <a:p>
            <a:r>
              <a:rPr lang="en-US" dirty="0"/>
              <a:t>Rendering edges can overlap at certain angles (visual polish needed)</a:t>
            </a:r>
          </a:p>
          <a:p>
            <a:r>
              <a:rPr lang="en-US" dirty="0"/>
              <a:t>Dependency on py-tetrad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47292-9F23-6C6D-73A1-ECA745BD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12" y="3934233"/>
            <a:ext cx="4889088" cy="26198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6633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EF1C-2B50-1027-D266-960D544A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703FA-FB91-96AD-6112-2F000B750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Outcome: beginner friendly causal discovery GUI with tutorials and explanations to guide the user</a:t>
            </a:r>
          </a:p>
          <a:p>
            <a:r>
              <a:rPr lang="en-US" dirty="0"/>
              <a:t>Key contributions:</a:t>
            </a:r>
          </a:p>
          <a:p>
            <a:pPr lvl="1"/>
            <a:r>
              <a:rPr lang="en-US" dirty="0"/>
              <a:t>PyQt GUI, tutorial wizards, comparisons tab, endpoint rendering, exports</a:t>
            </a:r>
          </a:p>
          <a:p>
            <a:pPr lvl="1"/>
            <a:r>
              <a:rPr lang="en-US" dirty="0"/>
              <a:t>Py-tetrad integration, parameter customization, explanations tab</a:t>
            </a:r>
          </a:p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Threaded runs and cancel/progress bar, SVG exports, figure legend, unit tests</a:t>
            </a:r>
          </a:p>
          <a:p>
            <a:pPr lvl="1"/>
            <a:r>
              <a:rPr lang="en-US" dirty="0"/>
              <a:t>Usability study with students: time tasks, understanding, user confidence</a:t>
            </a:r>
          </a:p>
          <a:p>
            <a:pPr lvl="1"/>
            <a:r>
              <a:rPr lang="en-US" dirty="0"/>
              <a:t>Teaching implications for MSc modules</a:t>
            </a:r>
          </a:p>
          <a:p>
            <a:pPr lvl="1"/>
            <a:r>
              <a:rPr lang="en-US" dirty="0"/>
              <a:t>LLM powered Q&amp;A in “Why not connected?” to answer questions about the DAG</a:t>
            </a:r>
          </a:p>
        </p:txBody>
      </p:sp>
    </p:spTree>
    <p:extLst>
      <p:ext uri="{BB962C8B-B14F-4D97-AF65-F5344CB8AC3E}">
        <p14:creationId xmlns:p14="http://schemas.microsoft.com/office/powerpoint/2010/main" val="98823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8403</TotalTime>
  <Words>628</Words>
  <Application>Microsoft Macintosh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Student-Oriented GUI for Causal Discovery</vt:lpstr>
      <vt:lpstr>Motivation</vt:lpstr>
      <vt:lpstr>Why a Student-Friendly GUI?</vt:lpstr>
      <vt:lpstr>Design Principles</vt:lpstr>
      <vt:lpstr>Architecture</vt:lpstr>
      <vt:lpstr>Implemented Search Algorithms</vt:lpstr>
      <vt:lpstr>Visualisation &amp; Explainability</vt:lpstr>
      <vt:lpstr>Algorithm Comparisons</vt:lpstr>
      <vt:lpstr>Demo &amp; Example Datasets</vt:lpstr>
      <vt:lpstr>Limitations and Risks</vt:lpstr>
      <vt:lpstr>Conclusions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King (MSc Computer Science FT)</dc:creator>
  <cp:lastModifiedBy>Jonah King (MSc Computer Science FT)</cp:lastModifiedBy>
  <cp:revision>20</cp:revision>
  <dcterms:created xsi:type="dcterms:W3CDTF">2025-08-10T21:52:46Z</dcterms:created>
  <dcterms:modified xsi:type="dcterms:W3CDTF">2025-08-23T16:22:48Z</dcterms:modified>
</cp:coreProperties>
</file>